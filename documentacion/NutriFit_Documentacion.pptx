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solidFill>
            <a:srgbClr val="8BE4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</a:rPr>
              <a:t>🥗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NutriFit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862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B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gamificada de nutrición, hidratación y entrenamiento — visión de negocio, experiencia de usuario y flujos de producto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89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· Documentación técnica y de producto
</a:t>
            </a:r>
            <a:pPr indent="0" marL="0">
              <a:buNone/>
            </a:pPr>
            <a:r>
              <a:rPr lang="en-US" sz="12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819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NutriFit y cómo está construida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128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40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Problemática: mundo empresarial vs. mundo del cliente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7121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986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chocan ambos mundos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2958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5570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 de la aplicación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879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21538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usuario, diagramas y pantallas principales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46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8737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Implementaciones futuras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046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532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NutriFit?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(SPA) que combina seguimiento nutricional, hidratación y entrenamiento con un motor metabólico personalizado y un sistema de gamificación completo (XP, niveles, rachas, ligas y tienda). El objetivo del producto es que cuidar la alimentación y el movimiento diario se sienta más parecido a un juego que a una obligación clínica.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5F7F3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990088"/>
            <a:ext cx="731520" cy="731520"/>
          </a:xfrm>
          <a:prstGeom prst="ellipse">
            <a:avLst/>
          </a:prstGeom>
          <a:solidFill>
            <a:srgbClr val="8BE4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5900" y="29900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🍽️</a:t>
            </a:r>
            <a:endParaRPr lang="en-US" sz="208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67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7024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calórico, macros, diario de comidas y recomendación inteligente de la próxima comida.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26974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5F7F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7972" y="2990088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7972" y="29900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💧</a:t>
            </a:r>
            <a:endParaRPr lang="en-US" sz="208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867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Hidratación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427024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vasos de agua con meta diaria y recompensa de XP al completarla.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26974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5F7F3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0044" y="2990088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10044" y="29900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🏋️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867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427024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según objetivo y lugar (casa/gimnasio) + contador de pasos por sensor de movimiento.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26974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5F7F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72116" y="2990088"/>
            <a:ext cx="731520" cy="73152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72116" y="29900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dirty="0">
                <a:solidFill>
                  <a:srgbClr val="000000"/>
                </a:solidFill>
              </a:rPr>
              <a:t>🏆</a:t>
            </a:r>
            <a:endParaRPr lang="en-US" sz="208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867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Gamificación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17736" y="427024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niveles, rachas con multiplicador, ligas y tienda de cosméticos con NutriCoins.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stack técnico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5F7F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🗄️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orientado a objetos + PDO con sentencias preparadas (sin vulnerabilidad a inyección SQL)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 — 10 tablas: usuarios, perfiles biométricos, alimentos, comidas, rutinas, hidratación, pasos, tienda, amigos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PHP server-side (requireAuth()) protegiendo cada endpoint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propios para APIs externas (Claude Vision, Gemini Vision, Open Food Facts) hechos con cURL crudo por la versión de PHP de XAMPP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22392" cy="4480560"/>
          </a:xfrm>
          <a:prstGeom prst="roundRect">
            <a:avLst>
              <a:gd name="adj" fmla="val 2449"/>
            </a:avLst>
          </a:prstGeom>
          <a:solidFill>
            <a:srgbClr val="F5F7F3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💻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74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14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en HTML5/CSS3/JavaScript vanilla — sin frameworks, sin build step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entre las 4 pestañas sin recargar la página (fetch + render dinámico)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 persistente en localStorage con variables CSS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Escáner IA con cámara (getUserMedia) y modelo de visión MobileNet (TensorFlow.js) como respaldo local gratuito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029200" cy="5029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06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971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mundos, una sola app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60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aplicación tiene que resolver, al mismo tiempo, un problema de negocio y un problema humano.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mundo empresarial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5F7F3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0784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00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📉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819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Retención y adherencia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74520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Gimnasios, personal trainers y nutricionistas pierden clientes entre sesiones: sin seguimiento diario, el abandono del plan es alto.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5F7F3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74320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🧩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Diferenciación en un mercado saturado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16936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 contra MyFitnessPal, Yazio, Fitbit y otros con catálogos e integraciones mucho más grandes.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5F7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785616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💸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66744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 y costos variables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59352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escáner con IA (Claude/Gemini) tiene costo por foto; falta aún un modelo claro de monetización (suscripción, freemium, licencias B2B).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36008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5F7F3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828032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828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🏗️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70916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de un prototipo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001768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sobre XAMPP en un solo servidor: escalar a producción implica hosting, seguridad, backups y cumplimiento normativo de datos de salud.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mundo del cliente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5F7F3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0784"/>
            <a:ext cx="548640" cy="548640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00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🤔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8191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sabe cuánto debería comer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874520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las personas no sabe calcular su gasto calórico ni diseñar un plan de macros por su cuenta.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51176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5F7F3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743200"/>
            <a:ext cx="548640" cy="548640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😮‍💨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comida es tedioso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16936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Buscar, pesar y calcular cada alimento es la principal causa de abandono de las apps de seguimiento nutricional.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5F7F3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785616"/>
            <a:ext cx="548640" cy="548640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🩺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66744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Necesita un plan que respete su condición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59352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Celiaquía, diabetes, hipertensión, veganismo: un plan genérico no sirve ni es seguro para todos.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36008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5F7F3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828032"/>
            <a:ext cx="548640" cy="548640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828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🔁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70916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cuesta sostener el hábito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001768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motivación ni gratificación inmediata, el uso diario decae en días o semanas (bien documentado en apps de salud).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chocan ambos mundos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FRICCIÓN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EAF6E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 Negocio quiere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datos de uso y de salud para personalizar y vender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notificaciones y mecánicas para sostener la retención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fotos ilimitadas con IA (pero cada foto cuesta)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catálogo único que escale a miles de usuarios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E4F1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8388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🙋  Cliente quiere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224028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Privacidad: no exponer su peso, fotos o condiciones médicas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simple, sin ruido de notificaciones ni presión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escaneo inteligente sea gratis e ilimitado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hecho a su medida: su dieta, su equipo, sus gustos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3017520" cy="4663440"/>
          </a:xfrm>
          <a:prstGeom prst="roundRect">
            <a:avLst>
              <a:gd name="adj" fmla="val 3030"/>
            </a:avLst>
          </a:prstGeom>
          <a:solidFill>
            <a:srgbClr val="FCEBE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tensión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97180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mecánica que ayuda al negocio a crecer (más datos, más notificaciones, más costo de IA por absorber) presiona justo el punto que el usuario cuida más: su privacidad, su tranquilidad y el acceso gratuito a lo que lo enganchó.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resulta del choque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E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2860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NutriFit prioriza el negocio, se convierte en una app agresiva con la retención y la monetización que termina expulsando a las mismas personas que necesita retener. Si prioriza al cliente sin un modelo de ingresos claro, no puede sostener el costo de sus propias funciones más valiosas — como el escáner con IA — y el proyecto deja de ser viable como negocio.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4160520"/>
            <a:ext cx="9601200" cy="1417320"/>
          </a:xfrm>
          <a:prstGeom prst="roundRect">
            <a:avLst>
              <a:gd name="adj" fmla="val 7742"/>
            </a:avLst>
          </a:prstGeom>
          <a:solidFill>
            <a:srgbClr val="1F2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4343400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8BE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 real de producto no es elegir un bando: es diseñar mecánicas donde el negocio gana exactamente cuando el usuario también gana (adherencia real, no dependencia ansiosa).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de la aplicación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🧮</a:t>
            </a:r>
            <a:endParaRPr lang="en-US" sz="1092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4813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científica: usa Mifflin-St Jeor y guías de fibra (IOM/USDA) en lugar de reglas genéricas.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🎮</a:t>
            </a:r>
            <a:endParaRPr lang="en-US" sz="1092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3957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Gamificación completa y coherente (XP, niveles, rachas, ligas, tienda) sin mecánicas pay-to-win.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🧭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33101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solo lugar: nutrición, hidratación, entrenamiento y pasos, sin fragmentar en varias apps.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🛡️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42245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Escáner de IA con cascada de respaldo: Claude → Gemini → modelo local → búsqueda manual — siempre responde.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7356" y="1508760"/>
            <a:ext cx="384048" cy="384048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7735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🥦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6807708" y="14813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nutricionales reales (catálogo propio + Open Food Facts), no estimaciones inventadas.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2423160"/>
            <a:ext cx="384048" cy="384048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7356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🩺</a:t>
            </a:r>
            <a:endParaRPr lang="en-US" sz="1092" dirty="0"/>
          </a:p>
        </p:txBody>
      </p:sp>
      <p:sp>
        <p:nvSpPr>
          <p:cNvPr id="21" name="Text 19"/>
          <p:cNvSpPr txBox="1"/>
          <p:nvPr/>
        </p:nvSpPr>
        <p:spPr>
          <a:xfrm>
            <a:off x="6807708" y="23957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sensible a alergias y condiciones médicas (celiaquía, diabetes, hipertensión, veganismo, etc.).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7356" y="3337560"/>
            <a:ext cx="384048" cy="384048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735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🔒</a:t>
            </a:r>
            <a:endParaRPr lang="en-US" sz="1092" dirty="0"/>
          </a:p>
        </p:txBody>
      </p:sp>
      <p:sp>
        <p:nvSpPr>
          <p:cNvPr id="24" name="Text 22"/>
          <p:cNvSpPr txBox="1"/>
          <p:nvPr/>
        </p:nvSpPr>
        <p:spPr>
          <a:xfrm>
            <a:off x="6807708" y="33101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base: contraseñas BCRYPT, consultas parametrizadas con PDO, sesión server-side.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7356" y="4251960"/>
            <a:ext cx="384048" cy="384048"/>
          </a:xfrm>
          <a:prstGeom prst="ellipse">
            <a:avLst/>
          </a:prstGeom>
          <a:solidFill>
            <a:srgbClr val="3F7D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735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💰</a:t>
            </a:r>
            <a:endParaRPr lang="en-US" sz="1092" dirty="0"/>
          </a:p>
        </p:txBody>
      </p:sp>
      <p:sp>
        <p:nvSpPr>
          <p:cNvPr id="27" name="Text 25"/>
          <p:cNvSpPr txBox="1"/>
          <p:nvPr/>
        </p:nvSpPr>
        <p:spPr>
          <a:xfrm>
            <a:off x="6807708" y="42245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simple y económico (PHP + MySQL + JS vanilla): bajo costo de desarrollo, fácil de mantener.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 de la aplicación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E270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🖥️</a:t>
            </a:r>
            <a:endParaRPr lang="en-US" sz="1092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4813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sobre un único servidor XAMPP: sin balanceo, caché ni colas para escalar a muchos usuarios.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E270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🔔</a:t>
            </a:r>
            <a:endParaRPr lang="en-US" sz="1092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3957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"recordatorios" usan la Notification API del navegador: sólo avisan con la pestaña abierta, no son push reales.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E270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🚶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33101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podómetro estima pasos por acelerómetro (heurística): no es un contador certificado.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E270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📚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42245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semilla chico (10 alimentos, 4 rutinas): depende de Open Food Facts para cobertura real.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7356" y="1508760"/>
            <a:ext cx="384048" cy="384048"/>
          </a:xfrm>
          <a:prstGeom prst="ellipse">
            <a:avLst/>
          </a:prstGeom>
          <a:solidFill>
            <a:srgbClr val="E270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7735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🤖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6807708" y="14813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escáner de IA depende de terceros de pago (Claude/Gemini); sin API key, cae a un modelo local menos preciso.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2423160"/>
            <a:ext cx="384048" cy="384048"/>
          </a:xfrm>
          <a:prstGeom prst="ellipse">
            <a:avLst/>
          </a:prstGeom>
          <a:solidFill>
            <a:srgbClr val="E270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77356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🧪</a:t>
            </a:r>
            <a:endParaRPr lang="en-US" sz="1092" dirty="0"/>
          </a:p>
        </p:txBody>
      </p:sp>
      <p:sp>
        <p:nvSpPr>
          <p:cNvPr id="21" name="Text 19"/>
          <p:cNvSpPr txBox="1"/>
          <p:nvPr/>
        </p:nvSpPr>
        <p:spPr>
          <a:xfrm>
            <a:off x="6807708" y="23957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observan tests automatizados ni control de versiones formal del esquema de base de datos.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7356" y="3337560"/>
            <a:ext cx="384048" cy="384048"/>
          </a:xfrm>
          <a:prstGeom prst="ellipse">
            <a:avLst/>
          </a:prstGeom>
          <a:solidFill>
            <a:srgbClr val="E270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735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🔐</a:t>
            </a:r>
            <a:endParaRPr lang="en-US" sz="1092" dirty="0"/>
          </a:p>
        </p:txBody>
      </p:sp>
      <p:sp>
        <p:nvSpPr>
          <p:cNvPr id="24" name="Text 22"/>
          <p:cNvSpPr txBox="1"/>
          <p:nvPr/>
        </p:nvSpPr>
        <p:spPr>
          <a:xfrm>
            <a:off x="6807708" y="33101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 datos sensibles (alergias, condiciones médicas, fotos de comida) sin política de privacidad visible.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7356" y="4251960"/>
            <a:ext cx="384048" cy="384048"/>
          </a:xfrm>
          <a:prstGeom prst="ellipse">
            <a:avLst/>
          </a:prstGeom>
          <a:solidFill>
            <a:srgbClr val="E270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735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000000"/>
                </a:solidFill>
              </a:rPr>
              <a:t>🏢</a:t>
            </a:r>
            <a:endParaRPr lang="en-US" sz="1092" dirty="0"/>
          </a:p>
        </p:txBody>
      </p:sp>
      <p:sp>
        <p:nvSpPr>
          <p:cNvPr id="27" name="Text 25"/>
          <p:cNvSpPr txBox="1"/>
          <p:nvPr/>
        </p:nvSpPr>
        <p:spPr>
          <a:xfrm>
            <a:off x="6807708" y="4224528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hoy un rol/panel para negocios (gimnasios, nutricionistas): toda la lógica es para el usuario final.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029200" cy="5029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06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971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de usuario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60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registro al uso diario: cómo se mueve una persona dentro de NutriFit.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general de la aplicación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5F7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391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/ Login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con email + contraseña (BCRYPT)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600200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5F7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0391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(7 pasos)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→ biometría → actividad → dieta → alergias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1600200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F5F7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0391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generado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Mifflin-St Jeor calcula calorías y macros diarios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1600200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8BE4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972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203911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principal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3F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pestañas de uso diario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diario dentro de la app principal: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6736" y="395935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16736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🥗</a:t>
            </a:r>
            <a:endParaRPr lang="en-US" sz="156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572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comida / agua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910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/ +5 XP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633472" y="425196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↻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79776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/>
        </p:spPr>
      </p:sp>
      <p:sp>
        <p:nvSpPr>
          <p:cNvPr id="31" name="Shape 29"/>
          <p:cNvSpPr/>
          <p:nvPr/>
        </p:nvSpPr>
        <p:spPr>
          <a:xfrm>
            <a:off x="3547872" y="395935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47872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🏋️</a:t>
            </a:r>
            <a:endParaRPr lang="en-US" sz="1560" dirty="0"/>
          </a:p>
        </p:txBody>
      </p:sp>
      <p:sp>
        <p:nvSpPr>
          <p:cNvPr id="33" name="Text 31"/>
          <p:cNvSpPr txBox="1"/>
          <p:nvPr/>
        </p:nvSpPr>
        <p:spPr>
          <a:xfrm>
            <a:off x="2871216" y="4572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rutina o pasos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871216" y="4910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/ +15 XP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864608" y="425196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↻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10912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/>
        </p:spPr>
      </p:sp>
      <p:sp>
        <p:nvSpPr>
          <p:cNvPr id="37" name="Shape 35"/>
          <p:cNvSpPr/>
          <p:nvPr/>
        </p:nvSpPr>
        <p:spPr>
          <a:xfrm>
            <a:off x="5779008" y="395935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779008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📈</a:t>
            </a:r>
            <a:endParaRPr lang="en-US" sz="1560" dirty="0"/>
          </a:p>
        </p:txBody>
      </p:sp>
      <p:sp>
        <p:nvSpPr>
          <p:cNvPr id="39" name="Text 37"/>
          <p:cNvSpPr txBox="1"/>
          <p:nvPr/>
        </p:nvSpPr>
        <p:spPr>
          <a:xfrm>
            <a:off x="5102352" y="4572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XP y racha diaria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102352" y="4910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×1.10 por día seguido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095744" y="425196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↻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242048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/>
        </p:spPr>
      </p:sp>
      <p:sp>
        <p:nvSpPr>
          <p:cNvPr id="43" name="Shape 41"/>
          <p:cNvSpPr/>
          <p:nvPr/>
        </p:nvSpPr>
        <p:spPr>
          <a:xfrm>
            <a:off x="8010144" y="395935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010144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🏆</a:t>
            </a:r>
            <a:endParaRPr lang="en-US" sz="1560" dirty="0"/>
          </a:p>
        </p:txBody>
      </p:sp>
      <p:sp>
        <p:nvSpPr>
          <p:cNvPr id="45" name="Text 43"/>
          <p:cNvSpPr txBox="1"/>
          <p:nvPr/>
        </p:nvSpPr>
        <p:spPr>
          <a:xfrm>
            <a:off x="7333488" y="4572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de nivel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333488" y="4910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 NutriCoins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326880" y="425196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↻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473184" y="3794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5F7F3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41280" y="395935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24128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</a:rPr>
              <a:t>🛍️</a:t>
            </a:r>
            <a:endParaRPr lang="en-US" sz="1560" dirty="0"/>
          </a:p>
        </p:txBody>
      </p:sp>
      <p:sp>
        <p:nvSpPr>
          <p:cNvPr id="51" name="Text 49"/>
          <p:cNvSpPr txBox="1"/>
          <p:nvPr/>
        </p:nvSpPr>
        <p:spPr>
          <a:xfrm>
            <a:off x="9564624" y="4572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Canjea en la tienda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9564624" y="49103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cosméticos de avatar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 día a día: cada acción suma XP, que alimenta rachas, niveles, ligas y la economía de la tienda.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Ingreso: login y registro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de entrada a la app — autenticación simple con email y contraseña.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307283"/>
            <a:ext cx="3429000" cy="3889353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6" name="Image 0" descr="/tmp/nutrifit_mock/shots/01_login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3003"/>
            <a:ext cx="3337560" cy="37979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0" y="2307283"/>
            <a:ext cx="3429000" cy="3889353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8" name="Image 1" descr="/tmp/nutrifit_mock/shots/02_registro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353003"/>
            <a:ext cx="3337560" cy="379791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18120" y="1920240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ve en pantalla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331720"/>
            <a:ext cx="38221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email y contraseña; sesión guardada del lado del servidor (PHP $_SESSION).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pide nombre, email y contraseña (mínimo 8 caracteres, hash BCRYPT).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"¿Olvidaste tu contraseña?" con flujo de recuperación por link (pantalla secundaria).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registrarse, el usuario entra automáticamente al onboarding — no hay pantalla vacía intermedia.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Onboarding: objetivo y biometría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de 7 pasos que arma el perfil metabólico del usuario antes de mostrarle la app.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307283"/>
            <a:ext cx="3429000" cy="3889353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6" name="Image 0" descr="/tmp/nutrifit_mock/shots/03_onboarding_objetiv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3003"/>
            <a:ext cx="3337560" cy="37979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0" y="2307283"/>
            <a:ext cx="3429000" cy="3889353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8" name="Image 1" descr="/tmp/nutrifit_mock/shots/04_onboarding_biometria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353003"/>
            <a:ext cx="3337560" cy="379791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18120" y="1920240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ve en pantalla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18120" y="2331720"/>
            <a:ext cx="38221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objetivo principal (bajar de peso, mantener, ganar músculo, monitorear salud, mejorar hábitos).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edad, género, peso actual/objetivo y altura — insumos para Mifflin-St Jeor.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siguientes (no mostrados): nivel de actividad y lugar de entreno, tipo de dieta, alergias/condiciones.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progreso segmentada y mensajes motivacionales entre pasos.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Resumen: tu plan nutricional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onboarding: el motor metabólico calcula y muestra las metas diarias.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9873" y="1874520"/>
            <a:ext cx="4189615" cy="475488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6" name="Image 0" descr="/tmp/nutrifit_mock/shots/05_onboarding_resumen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93" y="1920240"/>
            <a:ext cx="4098175" cy="4663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80760" y="1920240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ve en pantalla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331720"/>
            <a:ext cx="55595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Calorías diarias objetivo calculadas con TMB (Mifflin-St Jeor) × factor de actividad × ajuste por objetivo.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de macros (proteína, carbohidratos, grasas) y meta de fibra (14g cada 1000 kcal, guía IOM/USDA).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de confetti y trofeo — primer momento de recompensa, antes incluso de usar la app.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"Empecemos" lleva directo a la pestaña Mi Progreso.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Progreso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inicio de la app: avatar, nivel, racha, rutina del día y pasos.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614" y="1874520"/>
            <a:ext cx="4882133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6" name="Image 0" descr="/tmp/nutrifit_mock/shots/06_app_progre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334" y="1920240"/>
            <a:ext cx="4790693" cy="4663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80760" y="1920240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ve en pantalla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331720"/>
            <a:ext cx="55595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SVG que refleja lo equipado en la tienda (ropa, aura, marco de perfil).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XP y nivel (fórmula escalonada: 100 × nivel^1.4) + racha diaria con multiplicador de +10%.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actual vs. objetivo, con carga rápida del peso de hoy.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de ejercicios recomendada según objetivo y lugar de entreno, con recompensa de +25 XP al completarla.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diarios vía sensor de movimiento del dispositivo (heurística de aceleración) o carga manual.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Nutrición diaria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calorías, macros, hidratación y diario de comidas del día.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3650" y="1874520"/>
            <a:ext cx="5202059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6" name="Image 0" descr="/tmp/nutrifit_mock/shots/07_app_nutri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370" y="1920240"/>
            <a:ext cx="5110619" cy="4663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80760" y="1920240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ve en pantalla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331720"/>
            <a:ext cx="55595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calórico y barras de macros (proteínas, carbohidratos, grasas) contra la meta diaria.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inteligente de próxima comida, adaptada al tipo de dieta (vegana, vegetariana, pescatariana, etc.).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Hidratación: vasos de agua del día, +5 XP cada 3 vasos completados.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de alimentos y diario de comidas agrupado por desayuno / almuerzo / merienda / cena / snack.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Escáner Nutricional 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comida por foto, con una cadena de respaldo pensada para nunca dejar al usuario sin respuesta.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373868"/>
            <a:ext cx="5303520" cy="3756184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6" name="Image 0" descr="/tmp/nutrifit_mock/shots/08_app_esca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9588"/>
            <a:ext cx="5212080" cy="3664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80760" y="1920240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ve en pantalla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331720"/>
            <a:ext cx="55595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Intenta identificar los alimentos con Claude Vision (Anthropic) — varios ítems por foto + gramos estimados.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Si no hay API key o falla, prueba con Gemini Vision (Google) de forma automática.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Si tampoco está disponible, usa MobileNet (TensorFlow.js) corriendo gratis en el navegador del usuario.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El resultado se cruza contra el catálogo local + Open Food Facts para traer datos nutricionales reales.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Buscador manual siempre disponible como último respaldo.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&amp; Tienda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social y de progresión a largo plazo: ligas, amigos y canje de recompensas.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84965" y="1874520"/>
            <a:ext cx="4539430" cy="4754880"/>
          </a:xfrm>
          <a:prstGeom prst="roundRect">
            <a:avLst>
              <a:gd name="adj" fmla="val 120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6" name="Image 0" descr="/tmp/nutrifit_mock/shots/09_app_ranking_ti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685" y="1920240"/>
            <a:ext cx="4447990" cy="4663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80760" y="1920240"/>
            <a:ext cx="5559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ve en pantalla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2331720"/>
            <a:ext cx="55595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 por XP total: Bronce, Plata, Oro y Diamante, con leaderboard de los primeros puestos.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amigos con solicitudes pendientes, aceptar/rechazar.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Tienda: cosméticos de avatar (ropa, aura, marco de perfil), títulos y cupones canjeables por NutriCoins o XP.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ganan 100 NutriCoins cada vez que el usuario sube de nivel.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de UX: modo oscuro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SECUNDARIA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persistente (localStorage), con las mismas variables CSS reutilizadas en toda la app — no es una hoja de estilos aparte.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582294" y="1874520"/>
            <a:ext cx="4882133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2A">
                <a:alpha val="18000"/>
              </a:srgbClr>
            </a:outerShdw>
          </a:effectLst>
        </p:spPr>
      </p:sp>
      <p:pic>
        <p:nvPicPr>
          <p:cNvPr id="6" name="Image 0" descr="/tmp/nutrifit_mock/shots/10_app_modo_o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014" y="1920240"/>
            <a:ext cx="4790693" cy="4663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18120" y="1920240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importa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331720"/>
            <a:ext cx="38221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nocturno más cómodo (registrar la cena antes de dormir es un momento típico de uso).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sin parpadeos: desactiva las animaciones CSS por dos frames al cambiar de tema.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1100"/>
              </a:spcAft>
              <a:buSzPct val="100000"/>
              <a:buChar char="✦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diseño, cero lógica duplicada — bajo costo de mantenimiento.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029200" cy="5029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606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E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971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sigue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60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prototipo funcional a producto sostenible: la hoja de ruta.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Implementaciones futuras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4344" cy="4709160"/>
          </a:xfrm>
          <a:prstGeom prst="roundRect">
            <a:avLst>
              <a:gd name="adj" fmla="val 2602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146304" cy="146304"/>
          </a:xfrm>
          <a:prstGeom prst="ellipse">
            <a:avLst/>
          </a:prstGeom>
          <a:solidFill>
            <a:srgbClr val="8BE4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1719072"/>
            <a:ext cx="2810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Corto plazo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Afinar el escáner IA ya conectado a Claude/Gemini (precisión, costo por foto, caché de resultados).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reales (service worker + VAPID) para hidratación y rachas en riesgo.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foto de perfil / avatar personalizado (hoy es un blob SVG genérico).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508760"/>
            <a:ext cx="3514344" cy="4709160"/>
          </a:xfrm>
          <a:prstGeom prst="roundRect">
            <a:avLst>
              <a:gd name="adj" fmla="val 2602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65904" y="1810512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12792" y="1719072"/>
            <a:ext cx="2810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Mediano plazo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19456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catálogo de alimentos y rutinas (hoy 10 alimentos y 4 rutinas semilla) y usar el campo video_demo ya previsto en el esquema.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wearables (Apple Health, Google Fit, smartbands) para reemplazar la heurística de pasos.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 y CI/CD para sostener calidad a medida que crece el equipo.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5968" y="1508760"/>
            <a:ext cx="3514344" cy="4709160"/>
          </a:xfrm>
          <a:prstGeom prst="roundRect">
            <a:avLst>
              <a:gd name="adj" fmla="val 2602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4568" y="181051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01456" y="1719072"/>
            <a:ext cx="2810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Largo plazo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54568" y="219456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Rol/panel empresarial para gimnasios, nutricionistas y entrenadores (modelo B2B2C).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monetización explícito: suscripción premium, límites de escaneo gratuito, planes para empresas.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infraestructura en la nube con HTTPS, backups y cumplimiento de protección de datos de salud.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y referencias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F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 metabólica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508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Mifflin, M.D., St Jeor, S.T., Hill, L.A., Scott, B.J., Daugherty, S.A. &amp; Koh, Y.O. (1990). A new predictive equation for resting energy expenditure in healthy individuals. The American Journal of Clinical Nutrition, 51(2), 241–247.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21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fibra dietaria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221992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of Nutrition and Dietetics (2015). Position of the Academy of Nutrition and Dietetics: Health Implications of Dietary Fiber. Journal of the Academy of Nutrition and Dietetics — base de la recomendación de ~14 g de fibra por cada 1000 kcal.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3522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nutricionales abiertos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935224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Food Facts — base de datos y API abiertas de productos alimenticios (world.openfoodfacts.org), usada como fuente externa de alimentos.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4845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por computadora (IA)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648456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documentación de la API de Claude (Messages API, visión); Google — documentación de la API de Gemini (visión); TensorFlow.js / MobileNet — clasificación de imágenes en el navegador.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616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Gamificación en apps de salud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436168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JMIR Serious Games (2021). The Influence of Gamification and Information Technology Identity on Postadoption Behaviors of Health and Fitness App Users.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74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Abandono del registro de comidas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5074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Technology in Behavioral Science (2021). Is Burden Always Bad? Emerging Low-Burden Approaches to Mobile Dietary Self-monitoring and the Role Burden Plays with Engagement.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8815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técnicas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5788152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de PHP (PDO y sentencias preparadas), MySQL/MariaDB y Apache Friends (XAMPP).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NutriFit — Documentación de proyecto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5637276" y="1965960"/>
            <a:ext cx="914400" cy="914400"/>
          </a:xfrm>
          <a:prstGeom prst="ellipse">
            <a:avLst/>
          </a:prstGeom>
          <a:solidFill>
            <a:srgbClr val="8BE42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37276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🥗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NutriFit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documentación de producto y experiencia de usuario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2026-09-02T22:06:48Z</dcterms:created>
  <dcterms:modified xsi:type="dcterms:W3CDTF">2026-09-02T22:06:48Z</dcterms:modified>
</cp:coreProperties>
</file>